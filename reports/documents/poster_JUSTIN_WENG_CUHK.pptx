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32399288" cy="50399950"/>
  <p:notesSz cx="6881813" cy="9296400"/>
  <p:embeddedFontLst>
    <p:embeddedFont>
      <p:font typeface="Bree Serif" panose="020B0604020202020204" charset="0"/>
      <p:regular r:id="rId3"/>
    </p:embeddedFont>
    <p:embeddedFont>
      <p:font typeface="Cambria Math" panose="02040503050406030204" pitchFamily="18" charset="0"/>
      <p:regular r:id="rId4"/>
    </p:embeddedFont>
    <p:embeddedFont>
      <p:font typeface="Open Sans" panose="020B0606030504020204" pitchFamily="34" charset="0"/>
      <p:regular r:id="rId5"/>
      <p:bold r:id="rId6"/>
      <p:italic r:id="rId7"/>
      <p:boldItalic r:id="rId8"/>
    </p:embeddedFont>
  </p:embeddedFontLst>
  <p:custDataLst>
    <p:tags r:id="rId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5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5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5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5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5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35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35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35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35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9E7"/>
    <a:srgbClr val="4B4B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99" autoAdjust="0"/>
    <p:restoredTop sz="94660"/>
  </p:normalViewPr>
  <p:slideViewPr>
    <p:cSldViewPr>
      <p:cViewPr>
        <p:scale>
          <a:sx n="12" d="100"/>
          <a:sy n="12" d="100"/>
        </p:scale>
        <p:origin x="3058" y="274"/>
      </p:cViewPr>
      <p:guideLst>
        <p:guide orient="horz" pos="15874"/>
        <p:guide pos="1020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637" y="15657022"/>
            <a:ext cx="27540020" cy="10802593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59269" y="28559610"/>
            <a:ext cx="22680752" cy="12880716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295299" indent="0" algn="ctr">
              <a:buNone/>
              <a:defRPr/>
            </a:lvl2pPr>
            <a:lvl3pPr marL="590596" indent="0" algn="ctr">
              <a:buNone/>
              <a:defRPr/>
            </a:lvl3pPr>
            <a:lvl4pPr marL="885893" indent="0" algn="ctr">
              <a:buNone/>
              <a:defRPr/>
            </a:lvl4pPr>
            <a:lvl5pPr marL="1181192" indent="0" algn="ctr">
              <a:buNone/>
              <a:defRPr/>
            </a:lvl5pPr>
            <a:lvl6pPr marL="1476489" indent="0" algn="ctr">
              <a:buNone/>
              <a:defRPr/>
            </a:lvl6pPr>
            <a:lvl7pPr marL="1771788" indent="0" algn="ctr">
              <a:buNone/>
              <a:defRPr/>
            </a:lvl7pPr>
            <a:lvl8pPr marL="2067084" indent="0" algn="ctr">
              <a:buNone/>
              <a:defRPr/>
            </a:lvl8pPr>
            <a:lvl9pPr marL="2362382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92635E1-84E5-4F13-B43E-37D2FAED0D2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5025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D3195DB-34A1-4119-A215-F62A5FE644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8339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9320" y="32385908"/>
            <a:ext cx="27540020" cy="10011450"/>
          </a:xfrm>
        </p:spPr>
        <p:txBody>
          <a:bodyPr anchor="t"/>
          <a:lstStyle>
            <a:defPPr>
              <a:defRPr kern="1200"/>
            </a:defPPr>
            <a:lvl1pPr algn="l">
              <a:defRPr sz="258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320" y="21360917"/>
            <a:ext cx="27540020" cy="11024989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292"/>
            </a:lvl1pPr>
            <a:lvl2pPr marL="295299" indent="0">
              <a:buNone/>
              <a:defRPr sz="1163"/>
            </a:lvl2pPr>
            <a:lvl3pPr marL="590596" indent="0">
              <a:buNone/>
              <a:defRPr sz="1033"/>
            </a:lvl3pPr>
            <a:lvl4pPr marL="885893" indent="0">
              <a:buNone/>
              <a:defRPr sz="905"/>
            </a:lvl4pPr>
            <a:lvl5pPr marL="1181192" indent="0">
              <a:buNone/>
              <a:defRPr sz="905"/>
            </a:lvl5pPr>
            <a:lvl6pPr marL="1476489" indent="0">
              <a:buNone/>
              <a:defRPr sz="905"/>
            </a:lvl6pPr>
            <a:lvl7pPr marL="1771788" indent="0">
              <a:buNone/>
              <a:defRPr sz="905"/>
            </a:lvl7pPr>
            <a:lvl8pPr marL="2067084" indent="0">
              <a:buNone/>
              <a:defRPr sz="905"/>
            </a:lvl8pPr>
            <a:lvl9pPr marL="2362382" indent="0">
              <a:buNone/>
              <a:defRPr sz="9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0D09999-C139-4E94-B477-200ECFECF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29933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18718" y="11759625"/>
            <a:ext cx="14505931" cy="33262727"/>
          </a:xfrm>
        </p:spPr>
        <p:txBody>
          <a:bodyPr/>
          <a:lstStyle>
            <a:defPPr>
              <a:defRPr kern="1200"/>
            </a:defPPr>
            <a:lvl1pPr>
              <a:defRPr sz="1809"/>
            </a:lvl1pPr>
            <a:lvl2pPr>
              <a:defRPr sz="1550"/>
            </a:lvl2pPr>
            <a:lvl3pPr>
              <a:defRPr sz="1292"/>
            </a:lvl3pPr>
            <a:lvl4pPr>
              <a:defRPr sz="1163"/>
            </a:lvl4pPr>
            <a:lvl5pPr>
              <a:defRPr sz="1163"/>
            </a:lvl5pPr>
            <a:lvl6pPr>
              <a:defRPr sz="1163"/>
            </a:lvl6pPr>
            <a:lvl7pPr>
              <a:defRPr sz="1163"/>
            </a:lvl7pPr>
            <a:lvl8pPr>
              <a:defRPr sz="1163"/>
            </a:lvl8pPr>
            <a:lvl9pPr>
              <a:defRPr sz="116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4645" y="11759625"/>
            <a:ext cx="14505931" cy="33262727"/>
          </a:xfrm>
        </p:spPr>
        <p:txBody>
          <a:bodyPr/>
          <a:lstStyle>
            <a:defPPr>
              <a:defRPr kern="1200"/>
            </a:defPPr>
            <a:lvl1pPr>
              <a:defRPr sz="1809"/>
            </a:lvl1pPr>
            <a:lvl2pPr>
              <a:defRPr sz="1550"/>
            </a:lvl2pPr>
            <a:lvl3pPr>
              <a:defRPr sz="1292"/>
            </a:lvl3pPr>
            <a:lvl4pPr>
              <a:defRPr sz="1163"/>
            </a:lvl4pPr>
            <a:lvl5pPr>
              <a:defRPr sz="1163"/>
            </a:lvl5pPr>
            <a:lvl6pPr>
              <a:defRPr sz="1163"/>
            </a:lvl6pPr>
            <a:lvl7pPr>
              <a:defRPr sz="1163"/>
            </a:lvl7pPr>
            <a:lvl8pPr>
              <a:defRPr sz="1163"/>
            </a:lvl8pPr>
            <a:lvl9pPr>
              <a:defRPr sz="116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5CC60876-B1C0-4410-8573-5412B51913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1697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80" y="2017967"/>
            <a:ext cx="29158734" cy="8399992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0279" y="11282020"/>
            <a:ext cx="14315310" cy="470129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50" b="1"/>
            </a:lvl1pPr>
            <a:lvl2pPr marL="295299" indent="0">
              <a:buNone/>
              <a:defRPr sz="1292" b="1"/>
            </a:lvl2pPr>
            <a:lvl3pPr marL="590596" indent="0">
              <a:buNone/>
              <a:defRPr sz="1163" b="1"/>
            </a:lvl3pPr>
            <a:lvl4pPr marL="885893" indent="0">
              <a:buNone/>
              <a:defRPr sz="1033" b="1"/>
            </a:lvl4pPr>
            <a:lvl5pPr marL="1181192" indent="0">
              <a:buNone/>
              <a:defRPr sz="1033" b="1"/>
            </a:lvl5pPr>
            <a:lvl6pPr marL="1476489" indent="0">
              <a:buNone/>
              <a:defRPr sz="1033" b="1"/>
            </a:lvl6pPr>
            <a:lvl7pPr marL="1771788" indent="0">
              <a:buNone/>
              <a:defRPr sz="1033" b="1"/>
            </a:lvl7pPr>
            <a:lvl8pPr marL="2067084" indent="0">
              <a:buNone/>
              <a:defRPr sz="1033" b="1"/>
            </a:lvl8pPr>
            <a:lvl9pPr marL="2362382" indent="0">
              <a:buNone/>
              <a:defRPr sz="10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0279" y="15983321"/>
            <a:ext cx="14315310" cy="29039034"/>
          </a:xfrm>
        </p:spPr>
        <p:txBody>
          <a:bodyPr/>
          <a:lstStyle>
            <a:defPPr>
              <a:defRPr kern="1200"/>
            </a:defPPr>
            <a:lvl1pPr>
              <a:defRPr sz="1550"/>
            </a:lvl1pPr>
            <a:lvl2pPr>
              <a:defRPr sz="1292"/>
            </a:lvl2pPr>
            <a:lvl3pPr>
              <a:defRPr sz="1163"/>
            </a:lvl3pPr>
            <a:lvl4pPr>
              <a:defRPr sz="1033"/>
            </a:lvl4pPr>
            <a:lvl5pPr>
              <a:defRPr sz="1033"/>
            </a:lvl5pPr>
            <a:lvl6pPr>
              <a:defRPr sz="1033"/>
            </a:lvl6pPr>
            <a:lvl7pPr>
              <a:defRPr sz="1033"/>
            </a:lvl7pPr>
            <a:lvl8pPr>
              <a:defRPr sz="1033"/>
            </a:lvl8pPr>
            <a:lvl9pPr>
              <a:defRPr sz="10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59015" y="11282020"/>
            <a:ext cx="14319998" cy="4701298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550" b="1"/>
            </a:lvl1pPr>
            <a:lvl2pPr marL="295299" indent="0">
              <a:buNone/>
              <a:defRPr sz="1292" b="1"/>
            </a:lvl2pPr>
            <a:lvl3pPr marL="590596" indent="0">
              <a:buNone/>
              <a:defRPr sz="1163" b="1"/>
            </a:lvl3pPr>
            <a:lvl4pPr marL="885893" indent="0">
              <a:buNone/>
              <a:defRPr sz="1033" b="1"/>
            </a:lvl4pPr>
            <a:lvl5pPr marL="1181192" indent="0">
              <a:buNone/>
              <a:defRPr sz="1033" b="1"/>
            </a:lvl5pPr>
            <a:lvl6pPr marL="1476489" indent="0">
              <a:buNone/>
              <a:defRPr sz="1033" b="1"/>
            </a:lvl6pPr>
            <a:lvl7pPr marL="1771788" indent="0">
              <a:buNone/>
              <a:defRPr sz="1033" b="1"/>
            </a:lvl7pPr>
            <a:lvl8pPr marL="2067084" indent="0">
              <a:buNone/>
              <a:defRPr sz="1033" b="1"/>
            </a:lvl8pPr>
            <a:lvl9pPr marL="2362382" indent="0">
              <a:buNone/>
              <a:defRPr sz="10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59015" y="15983321"/>
            <a:ext cx="14319998" cy="29039034"/>
          </a:xfrm>
        </p:spPr>
        <p:txBody>
          <a:bodyPr/>
          <a:lstStyle>
            <a:defPPr>
              <a:defRPr kern="1200"/>
            </a:defPPr>
            <a:lvl1pPr>
              <a:defRPr sz="1550"/>
            </a:lvl1pPr>
            <a:lvl2pPr>
              <a:defRPr sz="1292"/>
            </a:lvl2pPr>
            <a:lvl3pPr>
              <a:defRPr sz="1163"/>
            </a:lvl3pPr>
            <a:lvl4pPr>
              <a:defRPr sz="1033"/>
            </a:lvl4pPr>
            <a:lvl5pPr>
              <a:defRPr sz="1033"/>
            </a:lvl5pPr>
            <a:lvl6pPr>
              <a:defRPr sz="1033"/>
            </a:lvl6pPr>
            <a:lvl7pPr>
              <a:defRPr sz="1033"/>
            </a:lvl7pPr>
            <a:lvl8pPr>
              <a:defRPr sz="1033"/>
            </a:lvl8pPr>
            <a:lvl9pPr>
              <a:defRPr sz="10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5C81FEE9-9B80-4F2A-956D-065E37A727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3190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015E0EE-8FC2-494C-80EA-877234696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9489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DFD8BC5-FEAE-4CD8-9AC4-640BB6EAE2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81282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0283" y="2007034"/>
            <a:ext cx="10659141" cy="8540356"/>
          </a:xfrm>
        </p:spPr>
        <p:txBody>
          <a:bodyPr anchor="b"/>
          <a:lstStyle>
            <a:defPPr>
              <a:defRPr kern="1200"/>
            </a:defPPr>
            <a:lvl1pPr algn="l">
              <a:defRPr sz="129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66910" y="2007030"/>
            <a:ext cx="18112102" cy="43015322"/>
          </a:xfrm>
        </p:spPr>
        <p:txBody>
          <a:bodyPr/>
          <a:lstStyle>
            <a:defPPr>
              <a:defRPr kern="1200"/>
            </a:defPPr>
            <a:lvl1pPr>
              <a:defRPr sz="2067"/>
            </a:lvl1pPr>
            <a:lvl2pPr>
              <a:defRPr sz="1809"/>
            </a:lvl2pPr>
            <a:lvl3pPr>
              <a:defRPr sz="1550"/>
            </a:lvl3pPr>
            <a:lvl4pPr>
              <a:defRPr sz="1292"/>
            </a:lvl4pPr>
            <a:lvl5pPr>
              <a:defRPr sz="1292"/>
            </a:lvl5pPr>
            <a:lvl6pPr>
              <a:defRPr sz="1292"/>
            </a:lvl6pPr>
            <a:lvl7pPr>
              <a:defRPr sz="1292"/>
            </a:lvl7pPr>
            <a:lvl8pPr>
              <a:defRPr sz="1292"/>
            </a:lvl8pPr>
            <a:lvl9pPr>
              <a:defRPr sz="12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0283" y="10547386"/>
            <a:ext cx="10659141" cy="34474966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05"/>
            </a:lvl1pPr>
            <a:lvl2pPr marL="295299" indent="0">
              <a:buNone/>
              <a:defRPr sz="775"/>
            </a:lvl2pPr>
            <a:lvl3pPr marL="590596" indent="0">
              <a:buNone/>
              <a:defRPr sz="646"/>
            </a:lvl3pPr>
            <a:lvl4pPr marL="885893" indent="0">
              <a:buNone/>
              <a:defRPr sz="581"/>
            </a:lvl4pPr>
            <a:lvl5pPr marL="1181192" indent="0">
              <a:buNone/>
              <a:defRPr sz="581"/>
            </a:lvl5pPr>
            <a:lvl6pPr marL="1476489" indent="0">
              <a:buNone/>
              <a:defRPr sz="581"/>
            </a:lvl6pPr>
            <a:lvl7pPr marL="1771788" indent="0">
              <a:buNone/>
              <a:defRPr sz="581"/>
            </a:lvl7pPr>
            <a:lvl8pPr marL="2067084" indent="0">
              <a:buNone/>
              <a:defRPr sz="581"/>
            </a:lvl8pPr>
            <a:lvl9pPr marL="2362382" indent="0">
              <a:buNone/>
              <a:defRPr sz="5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54B659F8-F290-4B1F-9DE5-08C57403E3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7364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9864" y="35280699"/>
            <a:ext cx="19440198" cy="4163539"/>
          </a:xfrm>
        </p:spPr>
        <p:txBody>
          <a:bodyPr anchor="b"/>
          <a:lstStyle>
            <a:defPPr>
              <a:defRPr kern="1200"/>
            </a:defPPr>
            <a:lvl1pPr algn="l">
              <a:defRPr sz="1292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349864" y="4502602"/>
            <a:ext cx="19440198" cy="30240335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2067"/>
            </a:lvl1pPr>
            <a:lvl2pPr marL="295299" indent="0">
              <a:buNone/>
              <a:defRPr sz="1809"/>
            </a:lvl2pPr>
            <a:lvl3pPr marL="590596" indent="0">
              <a:buNone/>
              <a:defRPr sz="1550"/>
            </a:lvl3pPr>
            <a:lvl4pPr marL="885893" indent="0">
              <a:buNone/>
              <a:defRPr sz="1292"/>
            </a:lvl4pPr>
            <a:lvl5pPr marL="1181192" indent="0">
              <a:buNone/>
              <a:defRPr sz="1292"/>
            </a:lvl5pPr>
            <a:lvl6pPr marL="1476489" indent="0">
              <a:buNone/>
              <a:defRPr sz="1292"/>
            </a:lvl6pPr>
            <a:lvl7pPr marL="1771788" indent="0">
              <a:buNone/>
              <a:defRPr sz="1292"/>
            </a:lvl7pPr>
            <a:lvl8pPr marL="2067084" indent="0">
              <a:buNone/>
              <a:defRPr sz="1292"/>
            </a:lvl8pPr>
            <a:lvl9pPr marL="2362382" indent="0">
              <a:buNone/>
              <a:defRPr sz="1292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49864" y="39444236"/>
            <a:ext cx="19440198" cy="591536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905"/>
            </a:lvl1pPr>
            <a:lvl2pPr marL="295299" indent="0">
              <a:buNone/>
              <a:defRPr sz="775"/>
            </a:lvl2pPr>
            <a:lvl3pPr marL="590596" indent="0">
              <a:buNone/>
              <a:defRPr sz="646"/>
            </a:lvl3pPr>
            <a:lvl4pPr marL="885893" indent="0">
              <a:buNone/>
              <a:defRPr sz="581"/>
            </a:lvl4pPr>
            <a:lvl5pPr marL="1181192" indent="0">
              <a:buNone/>
              <a:defRPr sz="581"/>
            </a:lvl5pPr>
            <a:lvl6pPr marL="1476489" indent="0">
              <a:buNone/>
              <a:defRPr sz="581"/>
            </a:lvl6pPr>
            <a:lvl7pPr marL="1771788" indent="0">
              <a:buNone/>
              <a:defRPr sz="581"/>
            </a:lvl7pPr>
            <a:lvl8pPr marL="2067084" indent="0">
              <a:buNone/>
              <a:defRPr sz="581"/>
            </a:lvl8pPr>
            <a:lvl9pPr marL="2362382" indent="0">
              <a:buNone/>
              <a:defRPr sz="5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BEE6216-8EDC-47E6-B758-9DADFEBD372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38233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60A6F3F-9C8B-44CE-BED2-1CF4193301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54660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90114" y="2017967"/>
            <a:ext cx="7290465" cy="43004384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18717" y="2017967"/>
            <a:ext cx="21721398" cy="43004384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36F67EB-EDCF-4E87-986D-D9362CB4B0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9277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18717" y="2017967"/>
            <a:ext cx="29161859" cy="8399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4" tIns="219452" rIns="438904" bIns="219452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18717" y="11759625"/>
            <a:ext cx="29161859" cy="3326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4" tIns="219452" rIns="438904" bIns="21945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618716" y="45897351"/>
            <a:ext cx="7562334" cy="3499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4" tIns="219452" rIns="438904" bIns="21945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2835064">
              <a:defRPr sz="4327"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68508" y="45897351"/>
            <a:ext cx="10262274" cy="3499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4" tIns="219452" rIns="438904" bIns="21945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2835064">
              <a:defRPr sz="4327">
                <a:latin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18242" y="45897351"/>
            <a:ext cx="7562334" cy="3499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904" tIns="219452" rIns="438904" bIns="21945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2835064">
              <a:defRPr sz="4327">
                <a:latin typeface="Arial" pitchFamily="34" charset="0"/>
              </a:defRPr>
            </a:lvl1pPr>
          </a:lstStyle>
          <a:p>
            <a:pPr>
              <a:defRPr/>
            </a:pPr>
            <a:fld id="{2E84C739-9377-45E7-B2FE-AF118EBE9E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2070740" y="25522935"/>
            <a:ext cx="16391650" cy="3874915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8078378" y="25522935"/>
            <a:ext cx="16391650" cy="3874915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1437471" y="50983284"/>
            <a:ext cx="29524351" cy="1662498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1437468" y="51639532"/>
            <a:ext cx="16199644" cy="1458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5236" dirty="0">
                <a:solidFill>
                  <a:srgbClr val="808080"/>
                </a:solidFill>
              </a:rPr>
              <a:t>Template ID: </a:t>
            </a:r>
            <a:r>
              <a:rPr sz="5236" dirty="0" err="1">
                <a:solidFill>
                  <a:srgbClr val="808080"/>
                </a:solidFill>
              </a:rPr>
              <a:t>pragmaticgraphite</a:t>
            </a:r>
            <a:r>
              <a:rPr sz="5236" dirty="0">
                <a:solidFill>
                  <a:srgbClr val="808080"/>
                </a:solidFill>
              </a:rPr>
              <a:t>  Size: 36x48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2835064" rtl="0" eaLnBrk="0" fontAlgn="base" hangingPunct="0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+mj-lt"/>
          <a:ea typeface="+mj-ea"/>
          <a:cs typeface="+mj-cs"/>
        </a:defRPr>
      </a:lvl1pPr>
      <a:lvl2pPr algn="ctr" defTabSz="2835064" rtl="0" eaLnBrk="0" fontAlgn="base" hangingPunct="0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2pPr>
      <a:lvl3pPr algn="ctr" defTabSz="2835064" rtl="0" eaLnBrk="0" fontAlgn="base" hangingPunct="0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3pPr>
      <a:lvl4pPr algn="ctr" defTabSz="2835064" rtl="0" eaLnBrk="0" fontAlgn="base" hangingPunct="0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4pPr>
      <a:lvl5pPr algn="ctr" defTabSz="2835064" rtl="0" eaLnBrk="0" fontAlgn="base" hangingPunct="0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5pPr>
      <a:lvl6pPr marL="295299" algn="ctr" defTabSz="2835064" rtl="0" fontAlgn="base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6pPr>
      <a:lvl7pPr marL="590596" algn="ctr" defTabSz="2835064" rtl="0" fontAlgn="base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7pPr>
      <a:lvl8pPr marL="885893" algn="ctr" defTabSz="2835064" rtl="0" fontAlgn="base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8pPr>
      <a:lvl9pPr marL="1181192" algn="ctr" defTabSz="2835064" rtl="0" fontAlgn="base">
        <a:spcBef>
          <a:spcPct val="0"/>
        </a:spcBef>
        <a:spcAft>
          <a:spcPct val="0"/>
        </a:spcAft>
        <a:defRPr sz="13693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062252" indent="-1062252" algn="l" defTabSz="2835064" rtl="0" eaLnBrk="0" fontAlgn="base" hangingPunct="0">
        <a:spcBef>
          <a:spcPct val="20000"/>
        </a:spcBef>
        <a:spcAft>
          <a:spcPct val="0"/>
        </a:spcAft>
        <a:buChar char="•"/>
        <a:defRPr sz="9947">
          <a:solidFill>
            <a:schemeClr val="tx1"/>
          </a:solidFill>
          <a:latin typeface="+mn-lt"/>
          <a:ea typeface="+mn-ea"/>
          <a:cs typeface="+mn-cs"/>
        </a:defRPr>
      </a:lvl1pPr>
      <a:lvl2pPr marL="2303938" indent="-885893" algn="l" defTabSz="2835064" rtl="0" eaLnBrk="0" fontAlgn="base" hangingPunct="0">
        <a:spcBef>
          <a:spcPct val="20000"/>
        </a:spcBef>
        <a:spcAft>
          <a:spcPct val="0"/>
        </a:spcAft>
        <a:buChar char="–"/>
        <a:defRPr sz="8720">
          <a:solidFill>
            <a:schemeClr val="tx1"/>
          </a:solidFill>
          <a:latin typeface="+mn-lt"/>
        </a:defRPr>
      </a:lvl2pPr>
      <a:lvl3pPr marL="3543573" indent="-708511" algn="l" defTabSz="2835064" rtl="0" eaLnBrk="0" fontAlgn="base" hangingPunct="0">
        <a:spcBef>
          <a:spcPct val="20000"/>
        </a:spcBef>
        <a:spcAft>
          <a:spcPct val="0"/>
        </a:spcAft>
        <a:buChar char="•"/>
        <a:defRPr sz="7493">
          <a:solidFill>
            <a:schemeClr val="tx1"/>
          </a:solidFill>
          <a:latin typeface="+mn-lt"/>
        </a:defRPr>
      </a:lvl3pPr>
      <a:lvl4pPr marL="4961618" indent="-708511" algn="l" defTabSz="2835064" rtl="0" eaLnBrk="0" fontAlgn="base" hangingPunct="0">
        <a:spcBef>
          <a:spcPct val="20000"/>
        </a:spcBef>
        <a:spcAft>
          <a:spcPct val="0"/>
        </a:spcAft>
        <a:buChar char="–"/>
        <a:defRPr sz="6201">
          <a:solidFill>
            <a:schemeClr val="tx1"/>
          </a:solidFill>
          <a:latin typeface="+mn-lt"/>
        </a:defRPr>
      </a:lvl4pPr>
      <a:lvl5pPr marL="6378638" indent="-708511" algn="l" defTabSz="2835064" rtl="0" eaLnBrk="0" fontAlgn="base" hangingPunct="0">
        <a:spcBef>
          <a:spcPct val="20000"/>
        </a:spcBef>
        <a:spcAft>
          <a:spcPct val="0"/>
        </a:spcAft>
        <a:buChar char="»"/>
        <a:defRPr sz="6201">
          <a:solidFill>
            <a:schemeClr val="tx1"/>
          </a:solidFill>
          <a:latin typeface="+mn-lt"/>
        </a:defRPr>
      </a:lvl5pPr>
      <a:lvl6pPr marL="6673936" indent="-708511" algn="l" defTabSz="2835064" rtl="0" fontAlgn="base">
        <a:spcBef>
          <a:spcPct val="20000"/>
        </a:spcBef>
        <a:spcAft>
          <a:spcPct val="0"/>
        </a:spcAft>
        <a:buChar char="»"/>
        <a:defRPr sz="6201">
          <a:solidFill>
            <a:schemeClr val="tx1"/>
          </a:solidFill>
          <a:latin typeface="+mn-lt"/>
        </a:defRPr>
      </a:lvl6pPr>
      <a:lvl7pPr marL="6969234" indent="-708511" algn="l" defTabSz="2835064" rtl="0" fontAlgn="base">
        <a:spcBef>
          <a:spcPct val="20000"/>
        </a:spcBef>
        <a:spcAft>
          <a:spcPct val="0"/>
        </a:spcAft>
        <a:buChar char="»"/>
        <a:defRPr sz="6201">
          <a:solidFill>
            <a:schemeClr val="tx1"/>
          </a:solidFill>
          <a:latin typeface="+mn-lt"/>
        </a:defRPr>
      </a:lvl7pPr>
      <a:lvl8pPr marL="7264530" indent="-708511" algn="l" defTabSz="2835064" rtl="0" fontAlgn="base">
        <a:spcBef>
          <a:spcPct val="20000"/>
        </a:spcBef>
        <a:spcAft>
          <a:spcPct val="0"/>
        </a:spcAft>
        <a:buChar char="»"/>
        <a:defRPr sz="6201">
          <a:solidFill>
            <a:schemeClr val="tx1"/>
          </a:solidFill>
          <a:latin typeface="+mn-lt"/>
        </a:defRPr>
      </a:lvl8pPr>
      <a:lvl9pPr marL="7559830" indent="-708511" algn="l" defTabSz="2835064" rtl="0" fontAlgn="base">
        <a:spcBef>
          <a:spcPct val="20000"/>
        </a:spcBef>
        <a:spcAft>
          <a:spcPct val="0"/>
        </a:spcAft>
        <a:buChar char="»"/>
        <a:defRPr sz="620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1pPr>
      <a:lvl2pPr marL="295299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2pPr>
      <a:lvl3pPr marL="590596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3pPr>
      <a:lvl4pPr marL="885893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4pPr>
      <a:lvl5pPr marL="1181192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5pPr>
      <a:lvl6pPr marL="1476489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6pPr>
      <a:lvl7pPr marL="1771788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7pPr>
      <a:lvl8pPr marL="2067084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8pPr>
      <a:lvl9pPr marL="2362382" algn="l" defTabSz="590596" rtl="0" eaLnBrk="1" latinLnBrk="0" hangingPunct="1">
        <a:defRPr sz="11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9">
            <a:extLst>
              <a:ext uri="{FF2B5EF4-FFF2-40B4-BE49-F238E27FC236}">
                <a16:creationId xmlns:a16="http://schemas.microsoft.com/office/drawing/2014/main" id="{E9CCCFA8-34AE-59BB-FDF3-A67475C24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219" y="45316775"/>
            <a:ext cx="16050225" cy="35832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Overall, the Human-Centric MARL maintains strong traffic efficiency, collision safety, and comfort metrics in both low and high demand conditions.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delivers these results using significantly shorter intervention windows that respect human driving dynamics, making it more viable for real-world usage.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training 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testing is still on-going as more data is collected and analyzed. 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0079936A-51DA-A34E-2C25-F2F4AA253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1655" y="27028775"/>
            <a:ext cx="15823335" cy="8516822"/>
          </a:xfrm>
          <a:prstGeom prst="rect">
            <a:avLst/>
          </a:prstGeom>
        </p:spPr>
      </p:pic>
      <p:sp>
        <p:nvSpPr>
          <p:cNvPr id="11" name="TextBox 19">
            <a:extLst>
              <a:ext uri="{FF2B5EF4-FFF2-40B4-BE49-F238E27FC236}">
                <a16:creationId xmlns:a16="http://schemas.microsoft.com/office/drawing/2014/main" id="{384A0258-1F2F-81B8-9722-4DE4C1DBBB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32" y="12832049"/>
            <a:ext cx="15795611" cy="33001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endParaRPr lang="en-US" sz="3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Environment</a:t>
            </a: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2-lane main highway with an on-ramp and merging lane simulated via SUMO and TraCI.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Mixture of HDVs: cautious (green), normal (white), and aggressive (blue), and CAVs (red)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F78D3B24-9243-4566-851C-923089240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4" y="351762"/>
            <a:ext cx="28528684" cy="6154919"/>
          </a:xfrm>
          <a:prstGeom prst="rect">
            <a:avLst/>
          </a:prstGeom>
          <a:solidFill>
            <a:srgbClr val="4B4B4B"/>
          </a:solidFill>
          <a:ln w="38100">
            <a:noFill/>
            <a:miter lim="800000"/>
          </a:ln>
        </p:spPr>
        <p:txBody>
          <a:bodyPr lIns="118125" tIns="59062" rIns="118125" bIns="59062" anchor="ctr"/>
          <a:lstStyle>
            <a:defPPr>
              <a:defRPr kern="1200"/>
            </a:defPPr>
          </a:lstStyle>
          <a:p>
            <a:pPr algn="ctr" defTabSz="4050774"/>
            <a:endParaRPr lang="en-US" sz="4651" b="1" dirty="0">
              <a:solidFill>
                <a:schemeClr val="tx2"/>
              </a:solidFill>
              <a:latin typeface="Gill Sans" pitchFamily="34" charset="0"/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2F2F82DA-ED7B-4BDE-9EED-3BB1F8DACB64}"/>
              </a:ext>
            </a:extLst>
          </p:cNvPr>
          <p:cNvSpPr txBox="1"/>
          <p:nvPr/>
        </p:nvSpPr>
        <p:spPr>
          <a:xfrm>
            <a:off x="502444" y="457441"/>
            <a:ext cx="28170584" cy="25297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238963">
              <a:spcBef>
                <a:spcPct val="20000"/>
              </a:spcBef>
              <a:defRPr/>
            </a:pPr>
            <a:r>
              <a:rPr lang="en-US" sz="115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Human-Centric MARL Framework for On-Ramp Merging in Mixed-Autonomous Traffic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610415D0-7E26-42B1-B5B0-E2EFA85D580A}"/>
              </a:ext>
            </a:extLst>
          </p:cNvPr>
          <p:cNvSpPr txBox="1"/>
          <p:nvPr/>
        </p:nvSpPr>
        <p:spPr>
          <a:xfrm>
            <a:off x="-1162249" y="5458691"/>
            <a:ext cx="31499969" cy="74219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823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Justin Weng (University of North Carolina-Chapel Hill), Supervisor: Dr. Dongkun Han</a:t>
            </a: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72A12B13-CB91-4177-B985-2E3830964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243" y="49073730"/>
            <a:ext cx="19256637" cy="1326219"/>
          </a:xfrm>
          <a:prstGeom prst="rect">
            <a:avLst/>
          </a:prstGeom>
          <a:solidFill>
            <a:srgbClr val="C8C8C8"/>
          </a:solidFill>
          <a:ln w="38100">
            <a:noFill/>
            <a:miter lim="800000"/>
          </a:ln>
        </p:spPr>
        <p:txBody>
          <a:bodyPr lIns="118125" tIns="59062" rIns="118125" bIns="59062" anchor="ctr"/>
          <a:lstStyle>
            <a:defPPr>
              <a:defRPr kern="1200"/>
            </a:defPPr>
          </a:lstStyle>
          <a:p>
            <a:pPr algn="ctr" defTabSz="4050774"/>
            <a:endParaRPr lang="en-US" sz="4651" b="1" dirty="0">
              <a:solidFill>
                <a:schemeClr val="tx2"/>
              </a:solidFill>
              <a:latin typeface="Gill Sans" pitchFamily="34" charset="0"/>
            </a:endParaRPr>
          </a:p>
        </p:txBody>
      </p:sp>
      <p:sp>
        <p:nvSpPr>
          <p:cNvPr id="28" name="TextBox 19">
            <a:extLst>
              <a:ext uri="{FF2B5EF4-FFF2-40B4-BE49-F238E27FC236}">
                <a16:creationId xmlns:a16="http://schemas.microsoft.com/office/drawing/2014/main" id="{760AD0DD-879B-4A1D-ADBC-A4CE7D10F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30" y="6917500"/>
            <a:ext cx="15795614" cy="5023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endParaRPr lang="en-US" sz="32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lnSpc>
                <a:spcPct val="110000"/>
              </a:lnSpc>
            </a:pP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Reality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near-future is mixed-autonomy traffic, where Connected and Automated Vehicles (CAVs) make up only 5% to 20% [CAV penetration rate] of vehicles.</a:t>
            </a:r>
          </a:p>
          <a:p>
            <a:pPr algn="just">
              <a:lnSpc>
                <a:spcPct val="110000"/>
              </a:lnSpc>
            </a:pP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Issue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 traditional research assume either full observability and/or a high CAV penetration rate.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CAV PR becomes low, these models fail, triggering hard brakes or causing stop and go traffic.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75E56-6D9B-44B9-909D-DE81651577F2}"/>
              </a:ext>
            </a:extLst>
          </p:cNvPr>
          <p:cNvSpPr txBox="1"/>
          <p:nvPr/>
        </p:nvSpPr>
        <p:spPr>
          <a:xfrm>
            <a:off x="731044" y="6716842"/>
            <a:ext cx="3377294" cy="728533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36250" rtlCol="0">
            <a:spAutoFit/>
          </a:bodyPr>
          <a:lstStyle/>
          <a:p>
            <a:pPr defTabSz="4049762">
              <a:defRPr/>
            </a:pPr>
            <a:r>
              <a:rPr lang="en-US" sz="4134" dirty="0">
                <a:solidFill>
                  <a:srgbClr val="B41E1E"/>
                </a:solidFill>
                <a:latin typeface="Bree Serif" panose="02000503040000020004" pitchFamily="2" charset="0"/>
              </a:rPr>
              <a:t>Introduction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D95001-5D30-415B-9BF2-D7DCE99B916F}"/>
              </a:ext>
            </a:extLst>
          </p:cNvPr>
          <p:cNvSpPr txBox="1"/>
          <p:nvPr/>
        </p:nvSpPr>
        <p:spPr>
          <a:xfrm>
            <a:off x="710974" y="12508042"/>
            <a:ext cx="3442319" cy="728533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36250" rtlCol="0">
            <a:spAutoFit/>
          </a:bodyPr>
          <a:lstStyle/>
          <a:p>
            <a:pPr defTabSz="4049762">
              <a:defRPr/>
            </a:pPr>
            <a:r>
              <a:rPr lang="en-US" sz="4134" dirty="0">
                <a:solidFill>
                  <a:srgbClr val="B41E1E"/>
                </a:solidFill>
                <a:latin typeface="Bree Serif" panose="02000503040000020004" pitchFamily="2" charset="0"/>
              </a:rPr>
              <a:t>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7A80C32A-3E91-4785-AD6F-5189DD4116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567975" y="12855575"/>
                <a:ext cx="15368985" cy="1541440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lIns="78732" tIns="39366" rIns="78732" bIns="39366">
                <a:spAutoFit/>
              </a:bodyPr>
              <a:lstStyle>
                <a:defPPr>
                  <a:defRPr kern="1200"/>
                </a:defPPr>
                <a:lvl1pPr eaLnBrk="0" hangingPunct="0"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1pPr>
                <a:lvl2pPr eaLnBrk="0" hangingPunct="0"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/>
                    <a:ea typeface="ＭＳ Ｐゴシック" pitchFamily="-106" charset="-128"/>
                  </a:defRPr>
                </a:lvl9pPr>
              </a:lstStyle>
              <a:p>
                <a:pPr algn="just">
                  <a:lnSpc>
                    <a:spcPts val="3800"/>
                  </a:lnSpc>
                </a:pPr>
                <a:r>
                  <a:rPr lang="en-US" sz="3200" b="1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Human-Centric Reward Function</a:t>
                </a:r>
              </a:p>
              <a:p>
                <a:pPr marL="457200" indent="-457200" algn="just">
                  <a:lnSpc>
                    <a:spcPts val="3800"/>
                  </a:lnSpc>
                  <a:buFont typeface="Arial" panose="020B0604020202020204" pitchFamily="34" charset="0"/>
                  <a:buChar char="•"/>
                </a:pPr>
                <a:r>
                  <a:rPr lang="en-US" sz="32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Five weights balancing efficiency, safety, stability, fairness, and control cost.</a:t>
                </a:r>
              </a:p>
              <a:p>
                <a:pPr algn="just">
                  <a:lnSpc>
                    <a:spcPts val="38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eff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eff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safe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safe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stab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stab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fair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fair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ctrl</m:t>
                          </m:r>
                        </m:sub>
                      </m:sSub>
                      <m:r>
                        <a:rPr lang="en-US" sz="3200" b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200" b="0" i="0"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m:t>ctrl</m:t>
                          </m:r>
                        </m:sub>
                      </m:sSub>
                    </m:oMath>
                  </m:oMathPara>
                </a14:m>
                <a:endParaRPr lang="en-US" sz="3200" b="1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19" name="TextBox 19">
                <a:extLst>
                  <a:ext uri="{FF2B5EF4-FFF2-40B4-BE49-F238E27FC236}">
                    <a16:creationId xmlns:a16="http://schemas.microsoft.com/office/drawing/2014/main" id="{7A80C32A-3E91-4785-AD6F-5189DD411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567975" y="12855575"/>
                <a:ext cx="15368985" cy="1541440"/>
              </a:xfrm>
              <a:prstGeom prst="rect">
                <a:avLst/>
              </a:prstGeom>
              <a:blipFill>
                <a:blip r:embed="rId3"/>
                <a:stretch>
                  <a:fillRect l="-1111" t="-59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The Chinese University of Hong Kong">
            <a:extLst>
              <a:ext uri="{FF2B5EF4-FFF2-40B4-BE49-F238E27FC236}">
                <a16:creationId xmlns:a16="http://schemas.microsoft.com/office/drawing/2014/main" id="{2FE08EB2-CB08-7E51-3447-E007A4275C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" r="78195"/>
          <a:stretch>
            <a:fillRect/>
          </a:stretch>
        </p:blipFill>
        <p:spPr>
          <a:xfrm>
            <a:off x="29480322" y="4016375"/>
            <a:ext cx="2492722" cy="2057400"/>
          </a:xfrm>
          <a:prstGeom prst="rect">
            <a:avLst/>
          </a:prstGeom>
          <a:solidFill>
            <a:srgbClr val="4B4B4B"/>
          </a:solidFill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F4FFBB-3AF3-907C-9B8C-23C39D0295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8664"/>
          <a:stretch>
            <a:fillRect/>
          </a:stretch>
        </p:blipFill>
        <p:spPr>
          <a:xfrm>
            <a:off x="29114988" y="733653"/>
            <a:ext cx="2834640" cy="2457954"/>
          </a:xfrm>
          <a:prstGeom prst="rect">
            <a:avLst/>
          </a:prstGeom>
        </p:spPr>
      </p:pic>
      <p:sp>
        <p:nvSpPr>
          <p:cNvPr id="18" name="TextBox 19">
            <a:extLst>
              <a:ext uri="{FF2B5EF4-FFF2-40B4-BE49-F238E27FC236}">
                <a16:creationId xmlns:a16="http://schemas.microsoft.com/office/drawing/2014/main" id="{B5A0DB97-A7B2-41E6-881B-2B07D8307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29" y="17869536"/>
            <a:ext cx="15849599" cy="2758439"/>
          </a:xfrm>
          <a:prstGeom prst="rect">
            <a:avLst/>
          </a:prstGeom>
          <a:solidFill>
            <a:srgbClr val="FBE9E7"/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Training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Centralized Training with Decentralized Execution (CTDE) framework utilizing Multi-Agent Proximal Policy Optimization (MAPPO).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Multi-density curriculum pipeline across traffic densities of 800, 1200, and 1700 veh/hr/lane, and CAV penetration rates of 5%, 10%, and 20%. </a:t>
            </a:r>
          </a:p>
        </p:txBody>
      </p:sp>
      <p:sp>
        <p:nvSpPr>
          <p:cNvPr id="29" name="TextBox 19">
            <a:extLst>
              <a:ext uri="{FF2B5EF4-FFF2-40B4-BE49-F238E27FC236}">
                <a16:creationId xmlns:a16="http://schemas.microsoft.com/office/drawing/2014/main" id="{CF739360-6681-C1D3-AAB5-7D357FCE6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8831" y="14912975"/>
            <a:ext cx="15368985" cy="254171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/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Tested in different traffic densities (800 and 1700 veh/hr/lane) with varying CAV penetration rates (5%, 10%, 20%).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is recorded and compared against other policies (All-HDV, Rule-CAV, Selfish-CAV, Flat-MARL). </a:t>
            </a:r>
          </a:p>
        </p:txBody>
      </p:sp>
      <p:sp>
        <p:nvSpPr>
          <p:cNvPr id="42" name="TextBox 19">
            <a:extLst>
              <a:ext uri="{FF2B5EF4-FFF2-40B4-BE49-F238E27FC236}">
                <a16:creationId xmlns:a16="http://schemas.microsoft.com/office/drawing/2014/main" id="{39F41422-BBC6-0567-72CC-B9E4EDC47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2985" y="26266775"/>
            <a:ext cx="10251649" cy="399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Flow chart representing the human-centric MARL framework.</a:t>
            </a:r>
          </a:p>
        </p:txBody>
      </p:sp>
      <p:sp>
        <p:nvSpPr>
          <p:cNvPr id="47" name="TextBox 19">
            <a:extLst>
              <a:ext uri="{FF2B5EF4-FFF2-40B4-BE49-F238E27FC236}">
                <a16:creationId xmlns:a16="http://schemas.microsoft.com/office/drawing/2014/main" id="{D6809CFE-533D-8793-0900-F92BC0C6A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44" y="49243278"/>
            <a:ext cx="18699956" cy="987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2756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Acknowledgments</a:t>
            </a:r>
            <a:r>
              <a:rPr lang="en-US" sz="275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Sincere gratitude to Dr. Dongkun Han (supervisor, CUHK), Dr. Xiangrui Kong (UWA</a:t>
            </a:r>
            <a:r>
              <a:rPr lang="en-US" sz="2756" dirty="0">
                <a:latin typeface="Gill Sans"/>
                <a:ea typeface="Open Sans" panose="020B0606030504020204" pitchFamily="34" charset="0"/>
                <a:cs typeface="Open Sans" panose="020B0606030504020204" pitchFamily="34" charset="0"/>
              </a:rPr>
              <a:t>),</a:t>
            </a:r>
            <a:r>
              <a:rPr lang="en-US" sz="2756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Ning Liu (PhD Student, UWA), and Sen Shen (PhD Student, CUHK) for their guidance and support during my research.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B5B16F0-1950-4D1B-62FC-83EF25DCA6F1}"/>
              </a:ext>
            </a:extLst>
          </p:cNvPr>
          <p:cNvSpPr txBox="1"/>
          <p:nvPr/>
        </p:nvSpPr>
        <p:spPr>
          <a:xfrm>
            <a:off x="731044" y="45193918"/>
            <a:ext cx="2963021" cy="728533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36250" rtlCol="0">
            <a:spAutoFit/>
          </a:bodyPr>
          <a:lstStyle/>
          <a:p>
            <a:pPr defTabSz="4049762">
              <a:defRPr/>
            </a:pPr>
            <a:r>
              <a:rPr lang="en-US" sz="4134" dirty="0">
                <a:solidFill>
                  <a:srgbClr val="B41E1E"/>
                </a:solidFill>
                <a:latin typeface="Bree Serif" panose="02000503040000020004" pitchFamily="2" charset="0"/>
              </a:rPr>
              <a:t>Conclusion</a:t>
            </a:r>
          </a:p>
        </p:txBody>
      </p:sp>
      <p:sp>
        <p:nvSpPr>
          <p:cNvPr id="53" name="TextBox 19">
            <a:extLst>
              <a:ext uri="{FF2B5EF4-FFF2-40B4-BE49-F238E27FC236}">
                <a16:creationId xmlns:a16="http://schemas.microsoft.com/office/drawing/2014/main" id="{E0C6CB15-90B9-C3F8-18C1-10F9B3982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0395" y="47799759"/>
            <a:ext cx="13137356" cy="2600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References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[1] Y. Ibork, M. Won, and L. Das, "Z-Merge: Multi-Agent Reinforcement Learning for On-Ramp Merging with Zone-Specific V2X Traffic Information," 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</a:rPr>
              <a:t>arXiv:2511.14910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, 2025. doi: 10.48550/arXiv.2511.14910.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[2] J. Pan, T. Wang, C. Claudel, and J. Shi, "Trust-MARL: Trust-Based Multi-Agent Reinforcement Learning Framework for Cooperative On-Ramp Merging in Heterogeneous Traffic Flow," 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</a:rPr>
              <a:t>arXiv:2506.12600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, 2025. doi: 10.48550/arXiv.2506.12600.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[3] T. Chu, J. Wang, L. Codecà, and Z. Li, "Multi-Agent Deep Reinforcement Learning for Large-scale Traffic Signal Control," 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</a:rPr>
              <a:t>IEEE Transactions on Intelligent Transportation Systems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, vol. 21, no. 3, pp. 1086–1095, 2020. doi: 10.1109/TITS.2019.2901791.</a:t>
            </a:r>
          </a:p>
          <a:p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[4] D. Chen, M. R. Hajidavalloo, Z. Li, K. Chen, Y. Wang, L. Jiang, and Y. Wang, "Deep multi-agent reinforcement learning for highway on-ramp merging in mixed traffic," </a:t>
            </a:r>
            <a:r>
              <a:rPr lang="en-US" sz="1800" i="1" dirty="0">
                <a:solidFill>
                  <a:schemeClr val="bg1">
                    <a:lumMod val="65000"/>
                  </a:schemeClr>
                </a:solidFill>
              </a:rPr>
              <a:t>IEEE Transactions on Intelligent Transportation Systems</a:t>
            </a: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, 2023.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B245422A-EBFD-99D5-D879-3A996BBE02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4444" y="39144575"/>
            <a:ext cx="15883307" cy="8605282"/>
          </a:xfrm>
          <a:prstGeom prst="rect">
            <a:avLst/>
          </a:prstGeom>
        </p:spPr>
      </p:pic>
      <p:sp>
        <p:nvSpPr>
          <p:cNvPr id="67" name="TextBox 19">
            <a:extLst>
              <a:ext uri="{FF2B5EF4-FFF2-40B4-BE49-F238E27FC236}">
                <a16:creationId xmlns:a16="http://schemas.microsoft.com/office/drawing/2014/main" id="{723AB429-3676-2009-5F7D-E98BFDBC3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20101" y="6759575"/>
            <a:ext cx="15795614" cy="6008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>
              <a:lnSpc>
                <a:spcPct val="110000"/>
              </a:lnSpc>
            </a:pP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Idea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formulate the problem as a sparse control problem.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a small fraction of cooperative CAVs help guide and improve human-dominated traffic flow?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CAVs act as “Traffic Shepherds”; they help shape local interactions to improve general traffic dynamics instead of dominating the system.</a:t>
            </a:r>
          </a:p>
          <a:p>
            <a:pPr algn="just">
              <a:lnSpc>
                <a:spcPct val="110000"/>
              </a:lnSpc>
            </a:pPr>
            <a:r>
              <a:rPr lang="en-US" sz="32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Approach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propose a human-centric multi-agent reinforcement learning (MARL) framework where CAVs learn high level interaction roles.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goal is to shift importance from individual CAV efficiency to improving overall traffic flow.</a:t>
            </a:r>
          </a:p>
        </p:txBody>
      </p:sp>
      <p:sp>
        <p:nvSpPr>
          <p:cNvPr id="77" name="TextBox 19">
            <a:extLst>
              <a:ext uri="{FF2B5EF4-FFF2-40B4-BE49-F238E27FC236}">
                <a16:creationId xmlns:a16="http://schemas.microsoft.com/office/drawing/2014/main" id="{62C6F28C-E9C9-9DCE-D49A-F22129D5B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6196" y="35334575"/>
            <a:ext cx="15523424" cy="3583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Human-Centric MARL recorded 69.9% less Time-to-Collision (TTC) violations compared to RULE-CAV in 1700 vph demand conditions.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both 800 vph and 1700 vph, Human-Centric MARL averaged an intervention duration of around 2.3 seconds, lower than both Flat-MARL and SELFISH-CAV.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Compared against the ALL-HDV baseline, the Human-Centric MARL achieved higher overall merging success rate.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86FAE8EE-FBE6-75FF-6131-55F13535D7A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22" y="27090810"/>
            <a:ext cx="15866180" cy="71769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D54F34A-2D89-DB1F-9277-B6B902AE1A4B}"/>
              </a:ext>
            </a:extLst>
          </p:cNvPr>
          <p:cNvSpPr txBox="1"/>
          <p:nvPr/>
        </p:nvSpPr>
        <p:spPr>
          <a:xfrm>
            <a:off x="732744" y="26876375"/>
            <a:ext cx="2068545" cy="728533"/>
          </a:xfrm>
          <a:prstGeom prst="rect">
            <a:avLst/>
          </a:prstGeom>
          <a:ln>
            <a:noFill/>
          </a:ln>
          <a:effectLst>
            <a:outerShdw dist="444500" dir="10800000" algn="tl" rotWithShape="0">
              <a:srgbClr val="B41E1E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236250" rtlCol="0">
            <a:spAutoFit/>
          </a:bodyPr>
          <a:lstStyle/>
          <a:p>
            <a:pPr defTabSz="4049762">
              <a:defRPr/>
            </a:pPr>
            <a:r>
              <a:rPr lang="en-US" sz="4134" dirty="0">
                <a:solidFill>
                  <a:srgbClr val="B41E1E"/>
                </a:solidFill>
                <a:latin typeface="Bree Serif" panose="02000503040000020004" pitchFamily="2" charset="0"/>
              </a:rPr>
              <a:t>Results</a:t>
            </a: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84532EEF-3471-2A70-AE81-1E6A8F913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029" y="34343975"/>
            <a:ext cx="15795613" cy="3583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lIns="78732" tIns="39366" rIns="78732" bIns="39366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RULE-CAV recorded a noticeably higher average jerk values, signifying severe ride discomfort.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Human-Centric MARL achieved an 84.0% better passenger comfort score compared to RULE-CAV and is comparable to the other baselines.</a:t>
            </a:r>
          </a:p>
          <a:p>
            <a:pPr marL="457200" indent="-4572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Human-Centric MARL also achieved very similar throughput compared to baselines.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C3C464-D46E-A2C5-4DCC-DC995701146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44" y="38027046"/>
            <a:ext cx="15972047" cy="7213529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9764C9FF-3804-EC51-3765-B2BFED0D9AF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815" y="17998120"/>
            <a:ext cx="27522429" cy="9259255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83B9E1C4-A014-BD70-A323-58813E14DA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1022" y="16361316"/>
            <a:ext cx="15795611" cy="1218659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ragmaticgraphite|08-2022"/>
</p:tagLst>
</file>

<file path=ppt/theme/theme1.xml><?xml version="1.0" encoding="utf-8"?>
<a:theme xmlns:a="http://schemas.openxmlformats.org/drawingml/2006/main" name="Default Desig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3409</TotalTime>
  <Words>796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Gill Sans</vt:lpstr>
      <vt:lpstr>Cambria Math</vt:lpstr>
      <vt:lpstr>Arial</vt:lpstr>
      <vt:lpstr>Bree Serif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for a scientific poster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This is a free template from MakeSigns.com to help you create the perfect scientific poster.</dc:description>
  <cp:lastModifiedBy>Weng, Justin</cp:lastModifiedBy>
  <cp:revision>38</cp:revision>
  <dcterms:modified xsi:type="dcterms:W3CDTF">2026-08-06T09:09:17Z</dcterms:modified>
  <cp:category>scientific poster template</cp:category>
</cp:coreProperties>
</file>